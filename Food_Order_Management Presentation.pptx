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7" r:id="rId9"/>
    <p:sldId id="271" r:id="rId10"/>
    <p:sldId id="272" r:id="rId11"/>
    <p:sldId id="27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52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this project takes a real food-order dataset and turns it into a properly designed relational database, using every concept from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numbers come from the repo README. Walk through the 4 module blocks as the roadmap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= set of legal values. Degree = number of columns, cardinality = number of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names follow the dataset; keep them identical to 01_schema.sql when presenting. Crows-foot not required: just explain 1:N and M:N.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integrity: PK not NULL. Referential integrity: FK value must exist in parent table or be NULL. Domain integrity: CHECK/data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filters rows, projection picks columns. Union/intersection/difference need union-compatible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B046-124C-35FB-7376-2EA7F4AD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F5AF5-4F05-0F9E-1731-CB98B5363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FE6D5-C148-6A37-C190-9C68C7515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are illustrative, taken from the README example. 178 restaurants are repeated across 1,898 order rows.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8373F-2CBB-55EB-3230-132CA7B14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54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Single-column PK means partial dependency cannot exist, so 2NF is automatic. 3NF work is the real decomposition.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7733-A50D-132F-212C-CE215CCB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6ABC2-8E7D-3247-28F6-33029D61D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E6203-3F07-0FA5-D288-63A0C4952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Single-column PK means partial dependency cannot exist, so 2NF is automatic. 3NF work is the real decomposition.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EC8E3-D3DF-CB0F-329B-2A5F16B36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25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938B-383D-29C2-C85A-C4BD68CA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9AE77-E741-2839-15F2-5DB17BF9B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76828-9D81-6069-87F4-E5714143D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Single-column PK means partial dependency cannot exist, so 2NF is automatic. 3NF work is the real decomposition.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7A91A-687C-7AC1-E8CC-11E336D7F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12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9518-5B9E-0FA2-83F6-20957FC8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ABA89-31BF-C52D-509E-8D0D5884C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E49EA-BD13-1B30-FEAF-1D1542537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filters rows, projection picks columns. Union/intersection/difference need union-compatible relations.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F0CD5-F462-E071-060F-C1F32FEFF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640080"/>
            <a:ext cx="2194560" cy="21945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737360"/>
            <a:ext cx="1737360" cy="173736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377440"/>
            <a:ext cx="1188720" cy="11887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Order Management System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74621"/>
            <a:ext cx="5120640" cy="118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F4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25BCE10200 Shaurya Thapa</a:t>
            </a:r>
          </a:p>
          <a:p>
            <a:r>
              <a:rPr lang="en-US" dirty="0">
                <a:solidFill>
                  <a:srgbClr val="F4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25BCE10487 Deepaansh Kapoor</a:t>
            </a:r>
          </a:p>
          <a:p>
            <a:r>
              <a:rPr lang="en-US" dirty="0">
                <a:solidFill>
                  <a:srgbClr val="F4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25BCE10482 Aryaman Saxena</a:t>
            </a:r>
          </a:p>
          <a:p>
            <a:r>
              <a:rPr lang="en-US" dirty="0">
                <a:solidFill>
                  <a:srgbClr val="F4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25BCE10525 Suyash Kapse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1,898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0320" y="1143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~1,200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~178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1143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types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4060" y="2651760"/>
            <a:ext cx="3869339" cy="640080"/>
          </a:xfrm>
          <a:prstGeom prst="roundRect">
            <a:avLst>
              <a:gd name="adj" fmla="val 909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2697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942747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keys</a:t>
            </a:r>
            <a:endParaRPr lang="en-US" sz="14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BCE86C88-4555-09AC-D9A6-3E28AA23FC52}"/>
              </a:ext>
            </a:extLst>
          </p:cNvPr>
          <p:cNvSpPr/>
          <p:nvPr/>
        </p:nvSpPr>
        <p:spPr>
          <a:xfrm>
            <a:off x="474061" y="3407795"/>
            <a:ext cx="3869339" cy="640080"/>
          </a:xfrm>
          <a:prstGeom prst="roundRect">
            <a:avLst>
              <a:gd name="adj" fmla="val 909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CEC541F8-7ECE-52F6-4087-083746FF6412}"/>
              </a:ext>
            </a:extLst>
          </p:cNvPr>
          <p:cNvSpPr/>
          <p:nvPr/>
        </p:nvSpPr>
        <p:spPr>
          <a:xfrm>
            <a:off x="457200" y="4184191"/>
            <a:ext cx="3869339" cy="640080"/>
          </a:xfrm>
          <a:prstGeom prst="roundRect">
            <a:avLst>
              <a:gd name="adj" fmla="val 909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13C46B1-CBA8-A7A3-10B2-E66CFF86FCA3}"/>
              </a:ext>
            </a:extLst>
          </p:cNvPr>
          <p:cNvSpPr txBox="1"/>
          <p:nvPr/>
        </p:nvSpPr>
        <p:spPr>
          <a:xfrm>
            <a:off x="594360" y="347018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E40B3FA-6E71-4BDE-71F3-5C4C10566285}"/>
              </a:ext>
            </a:extLst>
          </p:cNvPr>
          <p:cNvSpPr txBox="1"/>
          <p:nvPr/>
        </p:nvSpPr>
        <p:spPr>
          <a:xfrm>
            <a:off x="5943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</a:t>
            </a:r>
            <a:endParaRPr lang="en-US" sz="14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2A93F2DD-E4C4-475C-3AB3-5900FC62F46B}"/>
              </a:ext>
            </a:extLst>
          </p:cNvPr>
          <p:cNvSpPr txBox="1"/>
          <p:nvPr/>
        </p:nvSpPr>
        <p:spPr>
          <a:xfrm>
            <a:off x="594360" y="4214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2019B130-05DE-6607-BDDC-9CD0EDEF6768}"/>
              </a:ext>
            </a:extLst>
          </p:cNvPr>
          <p:cNvSpPr txBox="1"/>
          <p:nvPr/>
        </p:nvSpPr>
        <p:spPr>
          <a:xfrm>
            <a:off x="594360" y="4457667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model: terms mapped to our project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200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our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customers, restaurants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food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cost_of_order, 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of allowed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rating: 1 to 5; day_of_week: Weekday / Weekend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Degree, Cardinality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columns, no. of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orders: degree 9, cardinality 1,898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R(A1, A2, ... 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orders(order_id, customer_id, restaurant_id, 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with PK and FK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377440" cy="724711"/>
          </a:xfrm>
          <a:prstGeom prst="roundRect">
            <a:avLst>
              <a:gd name="adj" fmla="val 9091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72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Key--  customer_id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219042"/>
            <a:ext cx="2377440" cy="1234440"/>
          </a:xfrm>
          <a:prstGeom prst="roundRect">
            <a:avLst>
              <a:gd name="adj" fmla="val 384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5374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Key-- order_id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Key--  customer_id</a:t>
            </a:r>
            <a:endParaRPr lang="en-US" sz="1200" dirty="0"/>
          </a:p>
          <a:p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Key--  restaurant_id</a:t>
            </a:r>
            <a:endParaRPr lang="en-US" sz="1200" dirty="0"/>
          </a:p>
          <a:p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Key--  </a:t>
            </a:r>
            <a:r>
              <a:rPr lang="en-US" sz="1200" dirty="0" err="1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cuisine_id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36653" y="1122378"/>
            <a:ext cx="2377440" cy="745333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73813" y="1185315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73813" y="1494429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Key--  restaurant_id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36653" y="2233113"/>
            <a:ext cx="2377440" cy="124841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3813" y="2279191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restaurant_cuisine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73813" y="2553154"/>
            <a:ext cx="2103120" cy="928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Key-- </a:t>
            </a:r>
            <a:r>
              <a:rPr lang="en-US" sz="1200" dirty="0" err="1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</a:t>
            </a:r>
            <a:endParaRPr lang="en-US" sz="1200" dirty="0">
              <a:solidFill>
                <a:srgbClr val="2A1A1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00" dirty="0"/>
          </a:p>
          <a:p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Key-- </a:t>
            </a:r>
            <a:r>
              <a:rPr lang="en-US" sz="1200" dirty="0" err="1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cuisine_id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93666" y="1122378"/>
            <a:ext cx="2377440" cy="745333"/>
          </a:xfrm>
          <a:prstGeom prst="roundRect">
            <a:avLst>
              <a:gd name="adj" fmla="val 11111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119193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547039" y="1494429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Key--  </a:t>
            </a:r>
            <a:r>
              <a:rPr lang="en-US" sz="1200" dirty="0" err="1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cuisine_id</a:t>
            </a: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8346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9080" y="3948943"/>
            <a:ext cx="67672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4A42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Restaurant and Cuisines have M:N relationship , which is resolved using associative entity </a:t>
            </a:r>
            <a:r>
              <a:rPr lang="en-US" dirty="0" err="1">
                <a:solidFill>
                  <a:srgbClr val="5A4A42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Restaurant_cuisine</a:t>
            </a:r>
            <a:r>
              <a:rPr lang="en-US" dirty="0">
                <a:solidFill>
                  <a:srgbClr val="5A4A42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…</a:t>
            </a:r>
            <a:endParaRPr lang="en-US" dirty="0">
              <a:latin typeface="Bodoni MT" panose="02070603080606020203" pitchFamily="18" charset="0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6FF536F7-C2D0-2D21-A43C-07F673CE4BBF}"/>
              </a:ext>
            </a:extLst>
          </p:cNvPr>
          <p:cNvSpPr/>
          <p:nvPr/>
        </p:nvSpPr>
        <p:spPr>
          <a:xfrm>
            <a:off x="6393666" y="2226564"/>
            <a:ext cx="2377440" cy="745333"/>
          </a:xfrm>
          <a:prstGeom prst="roundRect">
            <a:avLst>
              <a:gd name="adj" fmla="val 11111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60B33EA1-E1C2-076A-C10C-D0F2783CD510}"/>
              </a:ext>
            </a:extLst>
          </p:cNvPr>
          <p:cNvSpPr txBox="1"/>
          <p:nvPr/>
        </p:nvSpPr>
        <p:spPr>
          <a:xfrm>
            <a:off x="6530826" y="2305877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order_audit</a:t>
            </a:r>
            <a:endParaRPr lang="en-US" sz="15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07E25429-B87B-82E0-D62A-C58515C2329E}"/>
              </a:ext>
            </a:extLst>
          </p:cNvPr>
          <p:cNvSpPr txBox="1"/>
          <p:nvPr/>
        </p:nvSpPr>
        <p:spPr>
          <a:xfrm>
            <a:off x="6547039" y="25995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Key--  </a:t>
            </a:r>
            <a:r>
              <a:rPr lang="en-US" sz="1200" dirty="0" err="1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audit_id</a:t>
            </a:r>
            <a:r>
              <a:rPr lang="en-US" sz="12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and integrity rules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663440" cy="30723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{order_id, rating}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(restaurant_id, cuisine_id)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restaurant_name (UNIQUE)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orders.customer_id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0" y="114300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" name="Text 2"/>
          <p:cNvSpPr txBox="1"/>
          <p:nvPr/>
        </p:nvSpPr>
        <p:spPr>
          <a:xfrm>
            <a:off x="56235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623560" y="1572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is never NULL and never repeats.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0" y="233172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235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623560" y="27614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FK matches an existing PK.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0" y="35204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2356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integrity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+ CHECK, e.g. cost_of_order &gt; 0.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</a:rPr>
              <a:t>ER Diagram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55787-7767-18EB-79A6-A6D740D12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33" y="914400"/>
            <a:ext cx="7368742" cy="3954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CC67C-E71F-E67B-3CE9-044E2E8A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DBC4AC-9BD9-3DCE-19B7-89C8C4AA461A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</a:rPr>
              <a:t>Before Normalization </a:t>
            </a:r>
            <a:endParaRPr lang="en-US" sz="28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D1783E8-17F7-AA0C-C3EB-2DE564F148EE}"/>
              </a:ext>
            </a:extLst>
          </p:cNvPr>
          <p:cNvSpPr/>
          <p:nvPr/>
        </p:nvSpPr>
        <p:spPr>
          <a:xfrm>
            <a:off x="457200" y="2853902"/>
            <a:ext cx="3657600" cy="2015278"/>
          </a:xfrm>
          <a:prstGeom prst="roundRect">
            <a:avLst>
              <a:gd name="adj" fmla="val 909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DF8924AC-E45A-C887-7CBE-B87A1D7E84D0}"/>
              </a:ext>
            </a:extLst>
          </p:cNvPr>
          <p:cNvSpPr/>
          <p:nvPr/>
        </p:nvSpPr>
        <p:spPr>
          <a:xfrm>
            <a:off x="5029200" y="2853901"/>
            <a:ext cx="3657600" cy="2015277"/>
          </a:xfrm>
          <a:prstGeom prst="roundRect">
            <a:avLst>
              <a:gd name="adj" fmla="val 909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4A20C99-46E7-EF71-DF07-1F80F4E82574}"/>
              </a:ext>
            </a:extLst>
          </p:cNvPr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stores all order information in a single table.</a:t>
            </a:r>
            <a:endParaRPr lang="en-US" sz="14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11D8B724-8152-851B-06E3-B319ACE11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716682"/>
              </p:ext>
            </p:extLst>
          </p:nvPr>
        </p:nvGraphicFramePr>
        <p:xfrm>
          <a:off x="457200" y="1371600"/>
          <a:ext cx="8229600" cy="12801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 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6">
            <a:extLst>
              <a:ext uri="{FF2B5EF4-FFF2-40B4-BE49-F238E27FC236}">
                <a16:creationId xmlns:a16="http://schemas.microsoft.com/office/drawing/2014/main" id="{FE159C27-1EE3-AAFC-A6D9-9C71113A04AC}"/>
              </a:ext>
            </a:extLst>
          </p:cNvPr>
          <p:cNvSpPr txBox="1"/>
          <p:nvPr/>
        </p:nvSpPr>
        <p:spPr>
          <a:xfrm>
            <a:off x="640080" y="30312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ADBD13B-C914-24C3-9D78-2641ABF68E85}"/>
              </a:ext>
            </a:extLst>
          </p:cNvPr>
          <p:cNvSpPr txBox="1"/>
          <p:nvPr/>
        </p:nvSpPr>
        <p:spPr>
          <a:xfrm>
            <a:off x="594360" y="3473341"/>
            <a:ext cx="3296380" cy="126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and cuisine names are repeated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grows with the number of orders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restaurant info needs many updates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insertion and deletion anomalies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F34381D-8D94-D2B4-6ABC-D521183963E0}"/>
              </a:ext>
            </a:extLst>
          </p:cNvPr>
          <p:cNvSpPr txBox="1"/>
          <p:nvPr/>
        </p:nvSpPr>
        <p:spPr>
          <a:xfrm>
            <a:off x="5249693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5B47540-01CB-3423-F565-C2DF3E2FC6AB}"/>
              </a:ext>
            </a:extLst>
          </p:cNvPr>
          <p:cNvSpPr txBox="1"/>
          <p:nvPr/>
        </p:nvSpPr>
        <p:spPr>
          <a:xfrm>
            <a:off x="5204297" y="3501179"/>
            <a:ext cx="2606040" cy="793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logically related tables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data integrity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1324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Dependencies,1NF &amp; 2NF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199" y="1065179"/>
            <a:ext cx="7590817" cy="1399161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2814536"/>
            <a:ext cx="3459804" cy="1890027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814536"/>
            <a:ext cx="3476016" cy="1890026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DF65BAE6-AB98-3B9B-187E-EEEBB6DCF53A}"/>
              </a:ext>
            </a:extLst>
          </p:cNvPr>
          <p:cNvSpPr txBox="1"/>
          <p:nvPr/>
        </p:nvSpPr>
        <p:spPr>
          <a:xfrm>
            <a:off x="640080" y="1139757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92FF6B7-0601-63E3-3C30-B53563852271}"/>
              </a:ext>
            </a:extLst>
          </p:cNvPr>
          <p:cNvSpPr txBox="1"/>
          <p:nvPr/>
        </p:nvSpPr>
        <p:spPr>
          <a:xfrm>
            <a:off x="640080" y="1546698"/>
            <a:ext cx="7909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→ customer_id, restaurant_name, cuisine_type, cost, day, rating, preparation_time, delivery_time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order_id uniquely determines all details of that order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decomposition: restaurant_id → restaurant_name;  cuisine_id → cuisine_name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45DC7DA-4986-B71A-2497-F5CB6B92656F}"/>
              </a:ext>
            </a:extLst>
          </p:cNvPr>
          <p:cNvSpPr txBox="1"/>
          <p:nvPr/>
        </p:nvSpPr>
        <p:spPr>
          <a:xfrm>
            <a:off x="640080" y="29208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— First Normal Form</a:t>
            </a:r>
            <a:endParaRPr lang="en-US" sz="14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4451568B-240E-E8C2-83C7-8B93E0E1FBDB}"/>
              </a:ext>
            </a:extLst>
          </p:cNvPr>
          <p:cNvSpPr txBox="1"/>
          <p:nvPr/>
        </p:nvSpPr>
        <p:spPr>
          <a:xfrm>
            <a:off x="640080" y="3347288"/>
            <a:ext cx="3108311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are atomic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uniquely identifies each row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already in 1NF ✓</a:t>
            </a:r>
            <a:endParaRPr lang="en-US" sz="1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B6FC0D8-2A7E-07F7-74D6-082C87AC16F3}"/>
              </a:ext>
            </a:extLst>
          </p:cNvPr>
          <p:cNvSpPr txBox="1"/>
          <p:nvPr/>
        </p:nvSpPr>
        <p:spPr>
          <a:xfrm>
            <a:off x="4754880" y="2936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— Second Normal Form</a:t>
            </a:r>
            <a:endParaRPr lang="en-US" sz="14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C51A3754-3683-DC99-4DCF-05B7609E185F}"/>
              </a:ext>
            </a:extLst>
          </p:cNvPr>
          <p:cNvSpPr txBox="1"/>
          <p:nvPr/>
        </p:nvSpPr>
        <p:spPr>
          <a:xfrm>
            <a:off x="4754880" y="3347288"/>
            <a:ext cx="37033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 1NF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on a composite key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order_id is a single column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already in 2NF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FBECC-36A1-A209-994B-219790CD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AFD10D-689A-01F9-FB4C-A66A4B6164B2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 : Removing Redundancy </a:t>
            </a:r>
            <a:endParaRPr lang="en-US" sz="28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4F680DB-D6B4-973B-584D-B6481C6AD3A4}"/>
              </a:ext>
            </a:extLst>
          </p:cNvPr>
          <p:cNvSpPr/>
          <p:nvPr/>
        </p:nvSpPr>
        <p:spPr>
          <a:xfrm>
            <a:off x="6731541" y="3337560"/>
            <a:ext cx="1874195" cy="1188720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0C5D14D-D66C-6E34-B906-A5BA52746079}"/>
              </a:ext>
            </a:extLst>
          </p:cNvPr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and cuisine details were repeated in every order, so we separate them into independent tables.</a:t>
            </a:r>
            <a:endParaRPr lang="en-US" sz="1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8729613-4246-B57D-B1FE-8F9D8E8E9E10}"/>
              </a:ext>
            </a:extLst>
          </p:cNvPr>
          <p:cNvSpPr txBox="1"/>
          <p:nvPr/>
        </p:nvSpPr>
        <p:spPr>
          <a:xfrm>
            <a:off x="4572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F3E9795E-C17A-9C41-B0AD-0E899161D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980636"/>
              </p:ext>
            </p:extLst>
          </p:nvPr>
        </p:nvGraphicFramePr>
        <p:xfrm>
          <a:off x="457200" y="1783080"/>
          <a:ext cx="1554480" cy="10241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5">
            <a:extLst>
              <a:ext uri="{FF2B5EF4-FFF2-40B4-BE49-F238E27FC236}">
                <a16:creationId xmlns:a16="http://schemas.microsoft.com/office/drawing/2014/main" id="{12BBFB56-8C75-2F03-5D16-E8E44F1E867F}"/>
              </a:ext>
            </a:extLst>
          </p:cNvPr>
          <p:cNvSpPr txBox="1"/>
          <p:nvPr/>
        </p:nvSpPr>
        <p:spPr>
          <a:xfrm>
            <a:off x="22860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00" dirty="0"/>
          </a:p>
        </p:txBody>
      </p:sp>
      <p:graphicFrame>
        <p:nvGraphicFramePr>
          <p:cNvPr id="21" name="Table 1">
            <a:extLst>
              <a:ext uri="{FF2B5EF4-FFF2-40B4-BE49-F238E27FC236}">
                <a16:creationId xmlns:a16="http://schemas.microsoft.com/office/drawing/2014/main" id="{D4273ED7-D482-AED2-2C90-9CB8F3022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513668"/>
              </p:ext>
            </p:extLst>
          </p:nvPr>
        </p:nvGraphicFramePr>
        <p:xfrm>
          <a:off x="2286000" y="1783080"/>
          <a:ext cx="2743200" cy="76809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 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6">
            <a:extLst>
              <a:ext uri="{FF2B5EF4-FFF2-40B4-BE49-F238E27FC236}">
                <a16:creationId xmlns:a16="http://schemas.microsoft.com/office/drawing/2014/main" id="{1F89DF7D-1AC2-456E-5EDA-EBA9A78997F5}"/>
              </a:ext>
            </a:extLst>
          </p:cNvPr>
          <p:cNvSpPr txBox="1"/>
          <p:nvPr/>
        </p:nvSpPr>
        <p:spPr>
          <a:xfrm>
            <a:off x="530352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</a:t>
            </a:r>
            <a:endParaRPr lang="en-US" sz="1200" dirty="0"/>
          </a:p>
        </p:txBody>
      </p: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41E5F743-7BAF-0F72-F476-926357270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73423"/>
              </p:ext>
            </p:extLst>
          </p:nvPr>
        </p:nvGraphicFramePr>
        <p:xfrm>
          <a:off x="5303520" y="1783080"/>
          <a:ext cx="3383280" cy="10241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7">
            <a:extLst>
              <a:ext uri="{FF2B5EF4-FFF2-40B4-BE49-F238E27FC236}">
                <a16:creationId xmlns:a16="http://schemas.microsoft.com/office/drawing/2014/main" id="{88ED8CD1-7B3F-AEFD-448A-339BAAE7E8C4}"/>
              </a:ext>
            </a:extLst>
          </p:cNvPr>
          <p:cNvSpPr txBox="1"/>
          <p:nvPr/>
        </p:nvSpPr>
        <p:spPr>
          <a:xfrm>
            <a:off x="45720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graphicFrame>
        <p:nvGraphicFramePr>
          <p:cNvPr id="31" name="Table 3">
            <a:extLst>
              <a:ext uri="{FF2B5EF4-FFF2-40B4-BE49-F238E27FC236}">
                <a16:creationId xmlns:a16="http://schemas.microsoft.com/office/drawing/2014/main" id="{C2E0B842-0B88-C80B-5CB1-766517420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536621"/>
              </p:ext>
            </p:extLst>
          </p:nvPr>
        </p:nvGraphicFramePr>
        <p:xfrm>
          <a:off x="457200" y="3337560"/>
          <a:ext cx="594360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 9">
            <a:extLst>
              <a:ext uri="{FF2B5EF4-FFF2-40B4-BE49-F238E27FC236}">
                <a16:creationId xmlns:a16="http://schemas.microsoft.com/office/drawing/2014/main" id="{8EAF8566-7C78-7E2D-53FA-FD30B3ECEB1B}"/>
              </a:ext>
            </a:extLst>
          </p:cNvPr>
          <p:cNvSpPr txBox="1"/>
          <p:nvPr/>
        </p:nvSpPr>
        <p:spPr>
          <a:xfrm>
            <a:off x="676656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data now lives in independent entities.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3NF ✓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3402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C38D0-C5B7-B982-8406-08874ABF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6D070A15-ABF9-DE5A-2C52-0025FD95444A}"/>
              </a:ext>
            </a:extLst>
          </p:cNvPr>
          <p:cNvSpPr/>
          <p:nvPr/>
        </p:nvSpPr>
        <p:spPr>
          <a:xfrm>
            <a:off x="457199" y="1100604"/>
            <a:ext cx="3459805" cy="1478604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ED961FE-05EB-ADAC-A549-8D971BA4FED3}"/>
              </a:ext>
            </a:extLst>
          </p:cNvPr>
          <p:cNvSpPr/>
          <p:nvPr/>
        </p:nvSpPr>
        <p:spPr>
          <a:xfrm>
            <a:off x="457200" y="2979155"/>
            <a:ext cx="3459804" cy="1478604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A5F7A69-CCCF-79F7-7EB5-15CD04E92365}"/>
              </a:ext>
            </a:extLst>
          </p:cNvPr>
          <p:cNvSpPr/>
          <p:nvPr/>
        </p:nvSpPr>
        <p:spPr>
          <a:xfrm>
            <a:off x="4928681" y="2979154"/>
            <a:ext cx="3476016" cy="1478604"/>
          </a:xfrm>
          <a:prstGeom prst="roundRect">
            <a:avLst>
              <a:gd name="adj" fmla="val 344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F8A49FD-F9D0-210B-80A7-9F94F8663DC1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</a:rPr>
              <a:t>Restaurant-Cuisine Relationship &amp; 4NF</a:t>
            </a:r>
            <a:endParaRPr lang="en-US" sz="2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F391FC9-857F-9997-F6CC-D1FE853EA207}"/>
              </a:ext>
            </a:extLst>
          </p:cNvPr>
          <p:cNvSpPr txBox="1"/>
          <p:nvPr/>
        </p:nvSpPr>
        <p:spPr>
          <a:xfrm>
            <a:off x="640080" y="1214305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another table?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D428D73-103B-EECD-8E8D-44FEAC92E247}"/>
              </a:ext>
            </a:extLst>
          </p:cNvPr>
          <p:cNvSpPr txBox="1"/>
          <p:nvPr/>
        </p:nvSpPr>
        <p:spPr>
          <a:xfrm>
            <a:off x="640080" y="1560778"/>
            <a:ext cx="3703320" cy="102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serves many cuisines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cuisine is served by many restaurants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↔ Cuisine = M : N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3229FFA-B3B2-D556-487C-35BBE413D8BA}"/>
              </a:ext>
            </a:extLst>
          </p:cNvPr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restaurant_cuisine (bridge table</a:t>
            </a: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13EA744F-2815-CF1D-5CD6-EBD43C722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680350"/>
              </p:ext>
            </p:extLst>
          </p:nvPr>
        </p:nvGraphicFramePr>
        <p:xfrm>
          <a:off x="4754880" y="1214305"/>
          <a:ext cx="3931920" cy="153619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0">
            <a:extLst>
              <a:ext uri="{FF2B5EF4-FFF2-40B4-BE49-F238E27FC236}">
                <a16:creationId xmlns:a16="http://schemas.microsoft.com/office/drawing/2014/main" id="{6B313002-6830-DECD-06FC-9A8D93899719}"/>
              </a:ext>
            </a:extLst>
          </p:cNvPr>
          <p:cNvSpPr txBox="1"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4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D551CC4-9510-43F3-B0A1-161018800094}"/>
              </a:ext>
            </a:extLst>
          </p:cNvPr>
          <p:cNvSpPr txBox="1"/>
          <p:nvPr/>
        </p:nvSpPr>
        <p:spPr>
          <a:xfrm>
            <a:off x="640080" y="347472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PK: (restaurant_id, cuisine_id)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are also foreign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1:N bridge N:1 Cuisine</a:t>
            </a:r>
            <a:endParaRPr lang="en-US" sz="12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E5714735-BFF9-0653-69BE-B46619200B20}"/>
              </a:ext>
            </a:extLst>
          </p:cNvPr>
          <p:cNvSpPr txBox="1"/>
          <p:nvPr/>
        </p:nvSpPr>
        <p:spPr>
          <a:xfrm>
            <a:off x="5074920" y="3116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Result</a:t>
            </a:r>
            <a:endParaRPr lang="en-US" sz="14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57291501-2162-58A1-652D-A5899D3A3750}"/>
              </a:ext>
            </a:extLst>
          </p:cNvPr>
          <p:cNvSpPr txBox="1"/>
          <p:nvPr/>
        </p:nvSpPr>
        <p:spPr>
          <a:xfrm>
            <a:off x="5074920" y="3436296"/>
            <a:ext cx="3611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multi-valued Restaurant–Cuisine relationship is moved into its own relation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✓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2648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D18FC-38A1-9F42-B4F3-7AA1ACC7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AE93EE-0E8E-4785-E835-9644C7740DE5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A1A14"/>
                </a:solidFill>
                <a:latin typeface="Cambria" pitchFamily="34" charset="0"/>
                <a:ea typeface="Cambria" pitchFamily="34" charset="-122"/>
              </a:rPr>
              <a:t>Normalized-- ER Diagram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D9619-2CDE-61C0-5610-C145714F1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13" y="914400"/>
            <a:ext cx="7769157" cy="4053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349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68</TotalTime>
  <Words>1010</Words>
  <Application>Microsoft Office PowerPoint</Application>
  <PresentationFormat>On-screen Show (16:9)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Bodoni MT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Deepaansh Kapoor</cp:lastModifiedBy>
  <cp:revision>18</cp:revision>
  <dcterms:created xsi:type="dcterms:W3CDTF">2026-10-06T13:37:19Z</dcterms:created>
  <dcterms:modified xsi:type="dcterms:W3CDTF">2026-10-06T18:21:03Z</dcterms:modified>
</cp:coreProperties>
</file>